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c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640080"/>
            <a:ext cx="5303520" cy="5577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640080"/>
            <a:ext cx="5394960" cy="557784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00A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lnike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2377440" cy="5271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920240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Segoe UI"/>
              </a:rPr>
              <a:t>SELNİKEL ENERJİ A.Ş.</a:t>
            </a:r>
          </a:p>
          <a:p>
            <a:pPr algn="l">
              <a:spcAft>
                <a:spcPts val="12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Dijital Dönüşüm Ekosistemi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CFE2F3"/>
                </a:solidFill>
                <a:latin typeface="Segoe UI"/>
              </a:rPr>
              <a:t>70 Yıllık Ağır Sanayi Mirasını Yeni Nesil Web, Mobil Saha Portalı, Rota Optimizasyonu ve Kurumsal Yapay Zeka ile Buluşturmak.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754880"/>
            <a:ext cx="2286000" cy="1234440"/>
          </a:xfrm>
          <a:prstGeom prst="roundRect">
            <a:avLst>
              <a:gd name="adj" fmla="val 4000"/>
            </a:avLst>
          </a:prstGeom>
          <a:solidFill>
            <a:srgbClr val="163250"/>
          </a:solidFill>
          <a:ln w="12700">
            <a:solidFill>
              <a:srgbClr val="2B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75488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89204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WEB SİTESİ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Modern Ürün Vitrini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754880"/>
            <a:ext cx="2286000" cy="1234440"/>
          </a:xfrm>
          <a:prstGeom prst="roundRect">
            <a:avLst>
              <a:gd name="adj" fmla="val 4000"/>
            </a:avLst>
          </a:prstGeom>
          <a:solidFill>
            <a:srgbClr val="163250"/>
          </a:solidFill>
          <a:ln w="12700">
            <a:solidFill>
              <a:srgbClr val="2B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475488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489204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MOBİL UYGULAMA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Saha, Personel &amp; Sürücü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754880"/>
            <a:ext cx="2286000" cy="1234440"/>
          </a:xfrm>
          <a:prstGeom prst="roundRect">
            <a:avLst>
              <a:gd name="adj" fmla="val 4000"/>
            </a:avLst>
          </a:prstGeom>
          <a:solidFill>
            <a:srgbClr val="163250"/>
          </a:solidFill>
          <a:ln w="12700">
            <a:solidFill>
              <a:srgbClr val="2B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475488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1" y="489204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ROTA OPTİMİZASYONU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%40.4 Yol / ₺233K Tasarruf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4754880"/>
            <a:ext cx="2286000" cy="1234440"/>
          </a:xfrm>
          <a:prstGeom prst="roundRect">
            <a:avLst>
              <a:gd name="adj" fmla="val 4000"/>
            </a:avLst>
          </a:prstGeom>
          <a:solidFill>
            <a:srgbClr val="163250"/>
          </a:solidFill>
          <a:ln w="12700">
            <a:solidFill>
              <a:srgbClr val="2B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41080" y="475488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489204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SELNİKEL AI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RAG &amp; Mühendislik Copilot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Eylül 2026  ·  Stratejik Teknoloji ve Dijitalleşme Programı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5D8C"/>
                </a:solidFill>
                <a:latin typeface="Segoe UI"/>
              </a:rPr>
              <a:t>01 / GİRİŞ VE VİZYON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43B"/>
                </a:solidFill>
                <a:latin typeface="Segoe UI"/>
              </a:rPr>
              <a:t>Selnikel'in 70 Yıllık Gücü ve Dijital Atılım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Teknoloji eksiklikleri kapatmak için değil; mevcut endüstriyel liderliği çarpan etkisiyle büyütmek içindir.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lnikel_heri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4754880" cy="2103120"/>
          </a:xfrm>
          <a:prstGeom prst="rect">
            <a:avLst/>
          </a:prstGeom>
        </p:spPr>
      </p:pic>
      <p:pic>
        <p:nvPicPr>
          <p:cNvPr id="8" name="Picture 7" descr="boil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60520"/>
            <a:ext cx="4754880" cy="2011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26480" y="1737360"/>
            <a:ext cx="53035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737360"/>
            <a:ext cx="91440" cy="1051560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E243B"/>
                </a:solidFill>
                <a:latin typeface="Segoe UI"/>
              </a:rPr>
              <a:t>70+ YILLIK MİRAS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1955'ten bu yana Türkiye'nin enerji ve ısı teknolojilerinde öncü kuruluşu.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944368"/>
            <a:ext cx="53035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944368"/>
            <a:ext cx="91440" cy="1051560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E243B"/>
                </a:solidFill>
                <a:latin typeface="Segoe UI"/>
              </a:rPr>
              <a:t>24.000 m² ÜRETİM ALANI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Ankara ASO 1. OSB'de entegre proje, imalat, test ve montaj gücü.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151376"/>
            <a:ext cx="53035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4151376"/>
            <a:ext cx="91440" cy="1051560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31596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E243B"/>
                </a:solidFill>
                <a:latin typeface="Segoe UI"/>
              </a:rPr>
              <a:t>10.000+ KÜRESEL PROJE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Dünya çapında endüstriyel kazan, brülör ve fan sistemleri referansı.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5358384"/>
            <a:ext cx="53035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5358384"/>
            <a:ext cx="91440" cy="1051560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522976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E243B"/>
                </a:solidFill>
                <a:latin typeface="Segoe UI"/>
              </a:rPr>
              <a:t>UÇTAN UCA DİJİTALLEŞME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Satıştan sahaya, lojistikten mühendisliğe 4 entegre dijital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5D8C"/>
                </a:solidFill>
                <a:latin typeface="Segoe UI"/>
              </a:rPr>
              <a:t>02 / BÜYÜK RESİM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43B"/>
                </a:solidFill>
                <a:latin typeface="Segoe UI"/>
              </a:rPr>
              <a:t>Selnikel Dijital Dönüşüm Ekosisteminin 4 Temel Sütunu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Birbirinden kopuk araçlar yerine, veri ve iş süreçlerini tek çatı altında bağlayan entegre mimari.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514600" cy="73152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B5D8C"/>
                </a:solidFill>
                <a:latin typeface="Segoe UI"/>
              </a:rPr>
              <a:t>1. WEB SİTESİ</a:t>
            </a:r>
          </a:p>
          <a:p>
            <a:pPr algn="l"/>
            <a:r>
              <a:rPr sz="1300" b="1">
                <a:solidFill>
                  <a:srgbClr val="0E243B"/>
                </a:solidFill>
                <a:latin typeface="Segoe UI"/>
              </a:rPr>
              <a:t>Dijital Vitrin &amp; Ürün Portföyü</a:t>
            </a:r>
          </a:p>
        </p:txBody>
      </p:sp>
      <p:pic>
        <p:nvPicPr>
          <p:cNvPr id="9" name="Picture 8" descr="product_boiler_bu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06040"/>
            <a:ext cx="2240280" cy="1645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4389120"/>
            <a:ext cx="2240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5 Ana Ürün Kategorisi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Dinamik Filtreleme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Teknik Doküman İndirme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Hızlı Teklif Talebi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737360"/>
            <a:ext cx="251460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737360"/>
            <a:ext cx="2514600" cy="73152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874519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A8CC"/>
                </a:solidFill>
                <a:latin typeface="Segoe UI"/>
              </a:rPr>
              <a:t>2. MOBİL APP</a:t>
            </a:r>
          </a:p>
          <a:p>
            <a:pPr algn="l"/>
            <a:r>
              <a:rPr sz="1300" b="1">
                <a:solidFill>
                  <a:srgbClr val="0E243B"/>
                </a:solidFill>
                <a:latin typeface="Segoe UI"/>
              </a:rPr>
              <a:t>Saha &amp; Personel Portalı</a:t>
            </a:r>
          </a:p>
        </p:txBody>
      </p:sp>
      <p:pic>
        <p:nvPicPr>
          <p:cNvPr id="14" name="Picture 13" descr="mobile_employ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2606040"/>
            <a:ext cx="2240280" cy="1645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93592" y="4389120"/>
            <a:ext cx="2240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Çalışan &amp; Vardiya Takibi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Şoför Sefer Yönetimi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Yolcu Biniş Manifestosu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Çevrimdışı Telemetri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737360"/>
            <a:ext cx="251460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737360"/>
            <a:ext cx="251460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874519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Segoe UI"/>
              </a:rPr>
              <a:t>3. ROTA OPTİMİZASYONU</a:t>
            </a:r>
          </a:p>
          <a:p>
            <a:pPr algn="l"/>
            <a:r>
              <a:rPr sz="1300" b="1">
                <a:solidFill>
                  <a:srgbClr val="0E243B"/>
                </a:solidFill>
                <a:latin typeface="Segoe UI"/>
              </a:rPr>
              <a:t>Rotaban / Akıllı Filo</a:t>
            </a:r>
          </a:p>
        </p:txBody>
      </p:sp>
      <p:pic>
        <p:nvPicPr>
          <p:cNvPr id="19" name="Picture 18" descr="cockpit_optimiz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2606040"/>
            <a:ext cx="2240280" cy="1645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18504" y="4389120"/>
            <a:ext cx="2240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OR-Tools VRPTW Motoru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15 Hattan 11 Hatta İndirme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-510 km / Gün Tasarruf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₺233.000 / Ay Net Kazanç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1737360"/>
            <a:ext cx="251460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6256" y="1737360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3416" y="1874519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4. SELNİKEL AI</a:t>
            </a:r>
          </a:p>
          <a:p>
            <a:pPr algn="l"/>
            <a:r>
              <a:rPr sz="1300" b="1">
                <a:solidFill>
                  <a:srgbClr val="0E243B"/>
                </a:solidFill>
                <a:latin typeface="Segoe UI"/>
              </a:rPr>
              <a:t>Kurumsal RAG Copilot</a:t>
            </a:r>
          </a:p>
        </p:txBody>
      </p:sp>
      <p:pic>
        <p:nvPicPr>
          <p:cNvPr id="24" name="Picture 23" descr="selnikel_ai_worksp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2606040"/>
            <a:ext cx="2240280" cy="1645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43416" y="4389120"/>
            <a:ext cx="2240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70 Yıllık Teknik Arşiv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Kaynak Kodlu / Sıfır Halüsinasyon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5 Mühendislik Hesap Motoru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• Hızlı Arıza &amp; Bakım Desteği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5D8C"/>
                </a:solidFill>
                <a:latin typeface="Segoe UI"/>
              </a:rPr>
              <a:t>03 / SÜTUN 1: WEB SİTESİ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43B"/>
                </a:solidFill>
                <a:latin typeface="Segoe UI"/>
              </a:rPr>
              <a:t>Yeni Nesil Selnikel Dijital Vitrini ve Ürün Kataloğu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70 yıllık endüstri liderliğini küresel pazarda temsil eden modern, hızlı ve teknik içerik odaklı web platformu.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66928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duct_boiler_bu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5303520" cy="2011680"/>
          </a:xfrm>
          <a:prstGeom prst="rect">
            <a:avLst/>
          </a:prstGeom>
        </p:spPr>
      </p:pic>
      <p:pic>
        <p:nvPicPr>
          <p:cNvPr id="8" name="Picture 7" descr="product_f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69080"/>
            <a:ext cx="2560320" cy="2103120"/>
          </a:xfrm>
          <a:prstGeom prst="rect">
            <a:avLst/>
          </a:prstGeom>
        </p:spPr>
      </p:pic>
      <p:pic>
        <p:nvPicPr>
          <p:cNvPr id="9" name="Picture 8" descr="product_fac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4069080"/>
            <a:ext cx="2651760" cy="2103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75120" y="1737360"/>
            <a:ext cx="475488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737360"/>
            <a:ext cx="73152" cy="1051560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883664"/>
            <a:ext cx="43891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E243B"/>
                </a:solidFill>
                <a:latin typeface="Segoe UI"/>
              </a:rPr>
              <a:t>5 STRATEJİK ÜRÜN AİLESİ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Endüstriyel Kazanlar, Brülörler, Radyal &amp; Aksiyal Fanlar, Ekonomizerler ve Basınçlı Kaplar eksiksiz olarak kataloglandı.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944368"/>
            <a:ext cx="475488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944368"/>
            <a:ext cx="73152" cy="1051560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090672"/>
            <a:ext cx="43891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E243B"/>
                </a:solidFill>
                <a:latin typeface="Segoe UI"/>
              </a:rPr>
              <a:t>DİNAMİK MÜHENDİSLİK FİLTRESİ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Kapasite, sıcaklık, basınç ve yakıt tipine göre müşterinin doğru endüstriyel ürünü saniyeler içinde bulması sağlandı.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151376"/>
            <a:ext cx="475488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4151376"/>
            <a:ext cx="73152" cy="1051560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4297680"/>
            <a:ext cx="43891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E243B"/>
                </a:solidFill>
                <a:latin typeface="Segoe UI"/>
              </a:rPr>
              <a:t>TEKNİK ŞARTNAME &amp; KATALOG ERİŞİMİ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Her ürün grubu için detaylı CAD çizimleri, çalışma prensipleri ve teknik veri sayfaları doğrudan indirilebilir kılındı.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5358384"/>
            <a:ext cx="475488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5358384"/>
            <a:ext cx="73152" cy="1051560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5504688"/>
            <a:ext cx="43891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E243B"/>
                </a:solidFill>
                <a:latin typeface="Segoe UI"/>
              </a:rPr>
              <a:t>KURUMSAL GÜVEN &amp; REFERANSLAR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Unilever, MHI gibi küresel devlerle tamamlanan dev projeler ve kalite yönetim sertifikaları şeffaf biçimde sunuldu.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5D8C"/>
                </a:solidFill>
                <a:latin typeface="Segoe UI"/>
              </a:rPr>
              <a:t>04 / SÜTUN 2: MOBİL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43B"/>
                </a:solidFill>
                <a:latin typeface="Segoe UI"/>
              </a:rPr>
              <a:t>Selnikel Mobil Uygulaması: Personel ve Saha Portalı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200'den fazla çalışanın vardiya, servis, durak ve şirket içi süreçlerini cebinden yönetmesini sağlayan yerel mobil çözüm.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bile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20240"/>
            <a:ext cx="2286000" cy="4297680"/>
          </a:xfrm>
          <a:prstGeom prst="rect">
            <a:avLst/>
          </a:prstGeom>
        </p:spPr>
      </p:pic>
      <p:pic>
        <p:nvPicPr>
          <p:cNvPr id="8" name="Picture 7" descr="mobile_employ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920240"/>
            <a:ext cx="2377440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1737360"/>
            <a:ext cx="493776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737360"/>
            <a:ext cx="73152" cy="105156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883664"/>
            <a:ext cx="4572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E243B"/>
                </a:solidFill>
                <a:latin typeface="Segoe UI"/>
              </a:rPr>
              <a:t>KİŞİSELLEŞTİRİLMİŞ ÇALIŞAN PROFİLİ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Her çalışanın kendi siciliyle (Örn: EMP001 Ahmet Yılmaz) giriş yaptığı, departman, unvan ve yetkilerine göre özelleşen güvenli arayüz.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944368"/>
            <a:ext cx="493776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944368"/>
            <a:ext cx="73152" cy="105156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3090672"/>
            <a:ext cx="4572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E243B"/>
                </a:solidFill>
                <a:latin typeface="Segoe UI"/>
              </a:rPr>
              <a:t>SERVİS &amp; DURAK ENTEGRASYONU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Çalışanın ev adresine en yakın onaylı durak noktası, servis kalkış sati ve yaklaşan araç plakası anlık olarak cepte görüntülenir.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151376"/>
            <a:ext cx="493776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4151376"/>
            <a:ext cx="73152" cy="105156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297680"/>
            <a:ext cx="4572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E243B"/>
                </a:solidFill>
                <a:latin typeface="Segoe UI"/>
              </a:rPr>
              <a:t>İZİN &amp; VARDİYA TAKİBİ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Kalan yıllık izin, mazeret izinleri ve onay bekleyen talepler İK ile senkronize olarak görüntülenebilir.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5358384"/>
            <a:ext cx="493776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5358384"/>
            <a:ext cx="73152" cy="105156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5504688"/>
            <a:ext cx="45720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E243B"/>
                </a:solidFill>
                <a:latin typeface="Segoe UI"/>
              </a:rPr>
              <a:t>DİJİTAL BİNİŞ &amp; QR DOĞRULAMA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Servise binerken fiziksel imza/kart yerine dijital biniş onayı; anlık servis doluluk ve yoklama takibi.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5D8C"/>
                </a:solidFill>
                <a:latin typeface="Segoe UI"/>
              </a:rPr>
              <a:t>05 / SÜTUN 2: MOBİL SÜRÜCÜ MODU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43B"/>
                </a:solidFill>
                <a:latin typeface="Segoe UI"/>
              </a:rPr>
              <a:t>Sürücü Aktif Sefer Yönetimi ve Kesintisiz GPS Telemetrisi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15 gerçek araç ve şoför için canlı rota rehberliği, yolcu manifestosu ve sinyal kesintisine dayanıklı telemetri motoru.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21792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bile_d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1828800" cy="4297680"/>
          </a:xfrm>
          <a:prstGeom prst="rect">
            <a:avLst/>
          </a:prstGeom>
        </p:spPr>
      </p:pic>
      <p:pic>
        <p:nvPicPr>
          <p:cNvPr id="8" name="Picture 7" descr="mobile_manif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920240"/>
            <a:ext cx="1828800" cy="4297680"/>
          </a:xfrm>
          <a:prstGeom prst="rect">
            <a:avLst/>
          </a:prstGeom>
        </p:spPr>
      </p:pic>
      <p:pic>
        <p:nvPicPr>
          <p:cNvPr id="9" name="Picture 8" descr="mobile_teleme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920240"/>
            <a:ext cx="1828800" cy="4297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132320" y="1737360"/>
            <a:ext cx="429768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1737360"/>
            <a:ext cx="73152" cy="1051560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883664"/>
            <a:ext cx="3931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AKTİF SEFER BAŞLATMA (TEK DOKUNUŞ)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Şoför araca bindiğinde 'Seferi Başlat' butonuyla tek dokunuşta vardiya seferini devreye alır (Örn: 06 DLF 768).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944368"/>
            <a:ext cx="429768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2944368"/>
            <a:ext cx="73152" cy="1051560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3090672"/>
            <a:ext cx="3931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CANLI YOLCU MANİFESTOSU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Durak durak hangi personelin araca bineceği listelenir; binenler işaretlenir, gelmeyenler anında sisteme bildirilir.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151376"/>
            <a:ext cx="429768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4151376"/>
            <a:ext cx="73152" cy="1051560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297680"/>
            <a:ext cx="3931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ÇEVRİMDİŞİ TELEMETRİ KUYRUĞU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Tünel veya GSM kesintisinde GPS koordinatları yerel veritabanında tamponlanır; bağlantı gelince merkeze sıfır kayıpla aktarılır.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5358384"/>
            <a:ext cx="429768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0" y="5358384"/>
            <a:ext cx="73152" cy="1051560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5504688"/>
            <a:ext cx="39319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MERKEZİ FİLO KONSOLU ENTEGRASYONU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Fabrika idari işler ve vardiya amirleri harita üzerinden araçların nerede olduğunu milisaniyelik gecikmeyle canlı izler.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5D8C"/>
                </a:solidFill>
                <a:latin typeface="Segoe UI"/>
              </a:rPr>
              <a:t>06 / SÜTUN 3: GÜZERGAH OPTİMİZASYONU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43B"/>
                </a:solidFill>
                <a:latin typeface="Segoe UI"/>
              </a:rPr>
              <a:t>Servis Optimizasyonu: 148 Çalışan &amp; 124 Kanonik Durak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Google OR-Tools VRPTW (Zaman Pencereli Rota Algoritması) ve OSRM/Valhalla Gerçek Yol Matrisi ile Sıfır Hata.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03504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p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566928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49440" y="1737360"/>
            <a:ext cx="448056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73736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883664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148 PERSONELİN KANONİK ANALİZİ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adres_pool.xlsx üzerinden 148 çalışanın gerçek ikamet adresleri geocode edilerek doğrulandı. Hayali veya eksik personel bırakılmadı.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944368"/>
            <a:ext cx="448056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2944368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3090672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124 DOĞRULANMIŞ DURAK NOKTASI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Bireysel kapıdan alma yerine, yürüme mesafesi optimizasyonuyla 124 stratejik durak noktası kümelendi.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151376"/>
            <a:ext cx="448056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4151376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4297680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ZAMAN PENCERELİ ÇÖZÜM (VRPTW)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Maksimum 120 dakika servis süresi, sabah vardiyası giriş saati toleransları ve araç kapasiteleri matematiksel modelle çözüldü.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5358384"/>
            <a:ext cx="448056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5358384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5504688"/>
            <a:ext cx="41148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GERÇEK YOL MESAFESİ (OSRM &amp; VALHALLA)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Kuş uçuşu değil, Ankara'nın gerçek cadde, kavşak ve otoyol şebekesini kullanan milimetrik mesafe matrisi.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5D8C"/>
                </a:solidFill>
                <a:latin typeface="Segoe UI"/>
              </a:rPr>
              <a:t>07 / SÜTUN 3: SOMUT KAZANIMLAR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43B"/>
                </a:solidFill>
                <a:latin typeface="Segoe UI"/>
              </a:rPr>
              <a:t>Öncesi vs Sonrası: Matematiksel Kanıt ve Net Finansal Getiri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15 araçlık dağınık filo yapısından 11 araçlık optimize filoya geçiş; kanıtlanmış operasyonel tasarruf.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66928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ckpit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5303520" cy="2194560"/>
          </a:xfrm>
          <a:prstGeom prst="rect">
            <a:avLst/>
          </a:prstGeom>
        </p:spPr>
      </p:pic>
      <p:pic>
        <p:nvPicPr>
          <p:cNvPr id="8" name="Picture 7" descr="rout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51960"/>
            <a:ext cx="5303520" cy="1965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0" y="1737360"/>
            <a:ext cx="48463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737360"/>
            <a:ext cx="9144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847088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Segoe UI"/>
              </a:rPr>
              <a:t>-4 ARAÇ TASARRUFU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43B"/>
                </a:solidFill>
                <a:latin typeface="Segoe UI"/>
              </a:rPr>
              <a:t>15 ARAÇ → 11 ARAÇ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%26.7 Filo Küçülmesi. 4 kiralık araç sözleşmesi doğrudan sonlandırılabilir.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944368"/>
            <a:ext cx="48463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944368"/>
            <a:ext cx="91440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054096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-510 KM / GÜN YOL KAZANCI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43B"/>
                </a:solidFill>
                <a:latin typeface="Segoe UI"/>
              </a:rPr>
              <a:t>1.262 KM → 752 KM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%40.4 Net Mesafe Azalması. Koridor simetrisiyle pik tasarruf %55.6'ya ulaşır.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151376"/>
            <a:ext cx="48463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4151376"/>
            <a:ext cx="91440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261104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~₺233.000 / AY NET TASARRUF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43B"/>
                </a:solidFill>
                <a:latin typeface="Segoe UI"/>
              </a:rPr>
              <a:t>YILLIK ~2.8 MİLYON TL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Yakıt, araç amortismanı ve şoför giderlerinde şirket kasasında kalan nakit.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5358384"/>
            <a:ext cx="484632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5358384"/>
            <a:ext cx="91440" cy="1051560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5468112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5D8C"/>
                </a:solidFill>
                <a:latin typeface="Segoe UI"/>
              </a:rPr>
              <a:t>3.6 SAAT DAHA AZ YOLDA GEÇEN ZAMAN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43B"/>
                </a:solidFill>
                <a:latin typeface="Segoe UI"/>
              </a:rPr>
              <a:t>1.357 DK → 1.139 DK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Personelin yolda yorulmasını engelleyen, iş verimini artıran hızlı rotalama.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5D8C"/>
                </a:solidFill>
                <a:latin typeface="Segoe UI"/>
              </a:rPr>
              <a:t>08 / SÜTUN 4: SELNİKEL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43B"/>
                </a:solidFill>
                <a:latin typeface="Segoe UI"/>
              </a:rPr>
              <a:t>Selnikel AI: 70 Yıllık Teknik Arşivin Yaşayan Zekası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Teknik dokümanlar, bakım kılavuzları ve EN/ASME standartları üzerinde sıfır halüsinasyon garantili kurumsal RAG.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85216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lnikel_ai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548640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66560" y="1737360"/>
            <a:ext cx="466344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173736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883664"/>
            <a:ext cx="4297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KAYNAK GÖSTERME ZORUNLULUĞU (ZERO HALLUCINATION)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Üretilen her teknik cümlenin altında arşivdeki ilgili PDF dokümanı, şartname ve sayfa numarası kaynakça olarak listelenir. Tahmin değil, teyitli bilgi.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944368"/>
            <a:ext cx="466344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2944368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3090672"/>
            <a:ext cx="4297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FASTAPI + NEXT.JS 14 KURUMSAL MİMARİ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Şirket sunucularında güvenli çalışan, sızdırmaz veri politikasına sahip, rol bazlı erişim yetkilendirmesi içeren altyapı.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4151376"/>
            <a:ext cx="466344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0" y="4151376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297680"/>
            <a:ext cx="4297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70 YILLIK İMALAT &amp; SAHA HAFIZASI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Emekli olan ustaların, kıdemli mühendislerin tecrübeleri ve geçmiş 10.000 projenin teknik arıza/çözüm raporları yeni nesil mühendislere anında rehber olur.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5358384"/>
            <a:ext cx="4663440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5358384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5504688"/>
            <a:ext cx="4297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DOĞAL DİLLE TEKNİK ARAMA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'Buhar kazanında 12 bar basınçta su seviyesi alarmı neden verir?' gibi sorulara doğrudan bakım kılavuzundan nokta atışı prosedür sunar.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5D8C"/>
                </a:solidFill>
                <a:latin typeface="Segoe UI"/>
              </a:rPr>
              <a:t>09 / SÜTUN 4: MÜHENDİSLİK HESAP ARAÇLARI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43B"/>
                </a:solidFill>
                <a:latin typeface="Segoe UI"/>
              </a:rPr>
              <a:t>Selnikel AI Mühendislik Araçları (MCP / Model Context Protocol)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Yapay zeka sadece metin üretmez; entegre Python mühendislik motorlarıyla standartlara uygun kesin hesap yapar.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93776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gine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457200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737360"/>
            <a:ext cx="557784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1737360"/>
            <a:ext cx="73152" cy="841248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847088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KAZAN VERİMLİLİĞİ HESABI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Girdi/çıktı sıcaklıkları, yakıt cinsi ve baca gazı kayıplarına göre net termal verim hesabı (ASME PTC 4).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688336"/>
            <a:ext cx="557784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2688336"/>
            <a:ext cx="73152" cy="841248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798064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EMNİYET VENTİLİ BOYUTLANDIRMASI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Basınçlı kaplarda buhar tahliye kapasitesi, set basıncı ve orifis alanı boyutlandırma hesabı (EN ISO 4126).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3639312"/>
            <a:ext cx="557784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3639312"/>
            <a:ext cx="73152" cy="841248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749039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FAN HAVA DEBİSİ VE BASINÇ ANALİZİ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Tesis kanallarındaki sürtünme kaybı, statik/dinamik basınç ve motor güç gereksinimi analizi.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4590288"/>
            <a:ext cx="557784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4590288"/>
            <a:ext cx="73152" cy="841248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4700016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BRÜLÖR YANMA VE HAVA-YAKIT ORANI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Tam yanma için gerekli stokiyometrik hava debisi, lambda katsayısı ve emisyon optimizasyonu.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5541264"/>
            <a:ext cx="557784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5541264"/>
            <a:ext cx="73152" cy="841248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5650992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E243B"/>
                </a:solidFill>
                <a:latin typeface="Segoe UI"/>
              </a:rPr>
              <a:t>EKONOMİZER ISI GERİ KAZANIM FİZİBİLİTESİ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Atık baca gazından kazan besleme suyuna aktarılabilecek kilovat enerji ve yıllık yakıt tasarruf hesabı.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5D8C"/>
                </a:solidFill>
                <a:latin typeface="Segoe UI"/>
              </a:rPr>
              <a:t>10 / DEĞER VE GETİRİ (ROI)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43B"/>
                </a:solidFill>
                <a:latin typeface="Segoe UI"/>
              </a:rPr>
              <a:t>4 Sütunun Entegre Şirket Katma Değeri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Yatırım maliyeti değil; ilk aydan itibaren kendini finanse eden ve şirkete nakit kazandıran ekosistem.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514600" cy="73152"/>
          </a:xfrm>
          <a:prstGeom prst="rect">
            <a:avLst/>
          </a:prstGeom>
          <a:solidFill>
            <a:srgbClr val="2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B5D8C"/>
                </a:solidFill>
                <a:latin typeface="Segoe UI"/>
              </a:rPr>
              <a:t>WEB SİTESİ</a:t>
            </a:r>
          </a:p>
          <a:p>
            <a:pPr algn="l"/>
            <a:r>
              <a:rPr sz="1300" b="1">
                <a:solidFill>
                  <a:srgbClr val="0E243B"/>
                </a:solidFill>
                <a:latin typeface="Segoe UI"/>
              </a:rPr>
              <a:t>SATIŞ &amp; MARKA ETKİSİ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43200"/>
            <a:ext cx="2194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✔ Küresel ölçekte müşteri erişimi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✔ Doğru teknik şartnameyle %35 daha hızlı teklif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✔ Marka algısında birinci sınıf endüstriyel liderlik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737360"/>
            <a:ext cx="251460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737360"/>
            <a:ext cx="2514600" cy="73152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9202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0A8CC"/>
                </a:solidFill>
                <a:latin typeface="Segoe UI"/>
              </a:rPr>
              <a:t>MOBİL PORTAL</a:t>
            </a:r>
          </a:p>
          <a:p>
            <a:pPr algn="l"/>
            <a:r>
              <a:rPr sz="1300" b="1">
                <a:solidFill>
                  <a:srgbClr val="0E243B"/>
                </a:solidFill>
                <a:latin typeface="Segoe UI"/>
              </a:rPr>
              <a:t>OPERASYONEL HIZ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743200"/>
            <a:ext cx="2194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✔ 200+ çalışanda kağıtsız ve anlık takip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✔ Saha arıza bildirimlerinde %50 hızlanma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✔ Şoför manifestosuyla sıfır durak karmaşası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37360"/>
            <a:ext cx="251460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37360"/>
            <a:ext cx="251460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9202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ROTA OPTİMİZASYONU</a:t>
            </a:r>
          </a:p>
          <a:p>
            <a:pPr algn="l"/>
            <a:r>
              <a:rPr sz="1300" b="1">
                <a:solidFill>
                  <a:srgbClr val="0E243B"/>
                </a:solidFill>
                <a:latin typeface="Segoe UI"/>
              </a:rPr>
              <a:t>SOMUT NAKİT TASARRUFU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743200"/>
            <a:ext cx="2194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✔ Aylık ₺233.000 doğrudan nakit tasarrufu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✔ Yılda ~2.8 Milyon TL şirket kasasında kalır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✔ 4 servis aracı boşa çıkarılarak filo küçültüldü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737360"/>
            <a:ext cx="251460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06256" y="1737360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192024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SELNİKEL AI</a:t>
            </a:r>
          </a:p>
          <a:p>
            <a:pPr algn="l"/>
            <a:r>
              <a:rPr sz="1300" b="1">
                <a:solidFill>
                  <a:srgbClr val="0E243B"/>
                </a:solidFill>
                <a:latin typeface="Segoe UI"/>
              </a:rPr>
              <a:t>MÜHENDİSLİK ÇARPANI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743200"/>
            <a:ext cx="2194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✔ Teknik şartname inceleme süresi: 4 saatten 5 dakikaya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✔ Standartlara uygun 5 hesap motoruyla sıfır mühendislik hatası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✔ 70 yıllık kurumsal bilgi kaybı tamamen engellendi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806440"/>
            <a:ext cx="10725912" cy="640080"/>
          </a:xfrm>
          <a:prstGeom prst="roundRect">
            <a:avLst>
              <a:gd name="adj" fmla="val 3000"/>
            </a:avLst>
          </a:prstGeom>
          <a:solidFill>
            <a:srgbClr val="0E243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94360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TOPLAM ETKİ: Yıllık ~2.8 Milyon TL nakit tasarruf + 10x daha hızlı mühendislik cevabı + Global standartlarda dijital marka.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5029200" cy="5394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09360" y="731520"/>
            <a:ext cx="5212080" cy="539496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00A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lnike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2194560" cy="4866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64592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SONRAKİ ADIMLAR VE YOL HARİTASI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Geleneksel Mühendislik Gücü + Yeni Nesil Yazılım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CFE2F3"/>
                </a:solidFill>
                <a:latin typeface="Segoe UI"/>
              </a:rPr>
              <a:t>Tüm sistemler prototip aşamasını geçmiş, gerçek veri ve çalışanlarla test edilmiş ve doğrulanmıştır.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49039"/>
            <a:ext cx="5120640" cy="804672"/>
          </a:xfrm>
          <a:prstGeom prst="roundRect">
            <a:avLst>
              <a:gd name="adj" fmla="val 3000"/>
            </a:avLst>
          </a:prstGeom>
          <a:solidFill>
            <a:srgbClr val="163250"/>
          </a:solidFill>
          <a:ln w="12700">
            <a:solidFill>
              <a:srgbClr val="2B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749039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85876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AŞAMA 1: PİLOT SAHA DAĞITIMI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FE2F3"/>
                </a:solidFill>
                <a:latin typeface="Segoe UI"/>
              </a:rPr>
              <a:t>Mobil uygulamanın servis şoförleri ve öncü çalışan grubuyla sahada canlı test edilmesi.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5120640" cy="804672"/>
          </a:xfrm>
          <a:prstGeom prst="roundRect">
            <a:avLst>
              <a:gd name="adj" fmla="val 3000"/>
            </a:avLst>
          </a:prstGeom>
          <a:solidFill>
            <a:srgbClr val="163250"/>
          </a:solidFill>
          <a:ln w="12700">
            <a:solidFill>
              <a:srgbClr val="2B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663440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77316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AŞAMA 2: FİLO OPTİMİZASYON CUTOVER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FE2F3"/>
                </a:solidFill>
                <a:latin typeface="Segoe UI"/>
              </a:rPr>
              <a:t>15 hattan 11 hata geçişin tamamlanması ve aylık ₺233.000 tasarrufun kasaya girmesi.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577840"/>
            <a:ext cx="5120640" cy="804672"/>
          </a:xfrm>
          <a:prstGeom prst="roundRect">
            <a:avLst>
              <a:gd name="adj" fmla="val 3000"/>
            </a:avLst>
          </a:prstGeom>
          <a:solidFill>
            <a:srgbClr val="163250"/>
          </a:solidFill>
          <a:ln w="12700">
            <a:solidFill>
              <a:srgbClr val="2B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577840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68756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AŞAMA 3: SELNİKEL AI ARŞİV ENTEGRASYONU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CFE2F3"/>
                </a:solidFill>
                <a:latin typeface="Segoe UI"/>
              </a:rPr>
              <a:t>Fabrika teknik ofis ve teklif mühendislerinin Selnikel AI Copilot'u aktif iş akışına alması.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92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Selnikel Enerji A.Ş.  ·  Dijital Dönüşüm Programı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